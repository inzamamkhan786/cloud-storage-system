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hc.unesco.org/" TargetMode="External"/><Relationship Id="rId5" Type="http://schemas.openxmlformats.org/officeDocument/2006/relationships/hyperlink" Target="https://www.incredibleindia.org/" TargetMode="External"/><Relationship Id="rId4" Type="http://schemas.openxmlformats.org/officeDocument/2006/relationships/hyperlink" Target="https://indiaculture.nic.i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2890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926764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25130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/>
              <a:t>Heritage &amp; Culture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/>
              <a:t>Cultural &amp; Heritage of India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5B6D74-6668-250E-05F6-4FFBEDE31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72" y="2086387"/>
            <a:ext cx="1186222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website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showcasing India’s rich culture and heritage.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 guide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answer user queries in a cultural 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AR/VR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scanning monuments and exploring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Currency converter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translation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global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Indian 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state-wise info (food,monuments, festivals,etc.).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&amp; prediction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suggesting best times to visit.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istory, </a:t>
            </a:r>
            <a:r>
              <a:rPr lang="en-US" altLang="en-US" b="1" dirty="0">
                <a:latin typeface="Arial" panose="020B0604020202020204" pitchFamily="34" charset="0"/>
              </a:rPr>
              <a:t>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rts, Crafts, Music, Food, Clothing, Festivals &amp; more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one platform.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41ADF-7E86-1860-739D-483E300B6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955" y="1718056"/>
            <a:ext cx="3588273" cy="3582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479836"/>
            <a:ext cx="8689849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Technical Approach</a:t>
            </a:r>
          </a:p>
          <a:p>
            <a:r>
              <a:rPr lang="en-US" sz="2400" b="1" dirty="0"/>
              <a:t>Frontend:</a:t>
            </a:r>
            <a:r>
              <a:rPr lang="en-US" sz="2400" dirty="0"/>
              <a:t> HTML , React , CSS , Javascript </a:t>
            </a:r>
          </a:p>
          <a:p>
            <a:endParaRPr lang="en-US" sz="2400" dirty="0"/>
          </a:p>
          <a:p>
            <a:r>
              <a:rPr lang="en-US" sz="2400" b="1" dirty="0"/>
              <a:t>Backend:</a:t>
            </a:r>
            <a:r>
              <a:rPr lang="en-US" sz="2400" dirty="0"/>
              <a:t> Express JS, Node JS , MongoDB.</a:t>
            </a:r>
          </a:p>
          <a:p>
            <a:endParaRPr lang="en-US" sz="2400" dirty="0"/>
          </a:p>
          <a:p>
            <a:r>
              <a:rPr lang="en-US" sz="2400" b="1" dirty="0"/>
              <a:t>AI:</a:t>
            </a:r>
            <a:r>
              <a:rPr lang="en-US" sz="2400" dirty="0"/>
              <a:t>  Fast API , LLM Grok </a:t>
            </a:r>
          </a:p>
          <a:p>
            <a:endParaRPr lang="en-US" sz="2400" dirty="0"/>
          </a:p>
          <a:p>
            <a:r>
              <a:rPr lang="en-US" sz="2400" b="1" dirty="0"/>
              <a:t>AR:  </a:t>
            </a:r>
            <a:r>
              <a:rPr lang="en-US" sz="2400" dirty="0"/>
              <a:t>Framework</a:t>
            </a:r>
            <a:r>
              <a:rPr lang="en-US" sz="2400" b="1" dirty="0"/>
              <a:t>(</a:t>
            </a:r>
            <a:r>
              <a:rPr lang="en-US" sz="2400" dirty="0"/>
              <a:t>AR.js or MindAR.js</a:t>
            </a:r>
            <a:r>
              <a:rPr lang="en-US" sz="2400" b="1" dirty="0"/>
              <a:t>)</a:t>
            </a:r>
            <a:r>
              <a:rPr lang="en-US" sz="2400" b="1" dirty="0">
                <a:sym typeface="Wingdings" panose="05000000000000000000" pitchFamily="2" charset="2"/>
              </a:rPr>
              <a:t> , </a:t>
            </a:r>
            <a:r>
              <a:rPr lang="en-US" sz="2400" dirty="0">
                <a:sym typeface="Wingdings" panose="05000000000000000000" pitchFamily="2" charset="2"/>
              </a:rPr>
              <a:t>Backend</a:t>
            </a:r>
            <a:r>
              <a:rPr lang="en-US" sz="2400" b="1" dirty="0">
                <a:sym typeface="Wingdings" panose="05000000000000000000" pitchFamily="2" charset="2"/>
              </a:rPr>
              <a:t>(</a:t>
            </a:r>
            <a:r>
              <a:rPr lang="en-US" sz="2400" dirty="0"/>
              <a:t>Node.js + MongoDB</a:t>
            </a:r>
            <a:r>
              <a:rPr lang="en-US" sz="2400" b="1" dirty="0">
                <a:sym typeface="Wingdings" panose="05000000000000000000" pitchFamily="2" charset="2"/>
              </a:rPr>
              <a:t>)</a:t>
            </a:r>
            <a:endParaRPr lang="en-US" sz="2400" dirty="0"/>
          </a:p>
          <a:p>
            <a:r>
              <a:rPr lang="en-US" sz="2400" b="1" dirty="0"/>
              <a:t>APIs:</a:t>
            </a:r>
            <a:r>
              <a:rPr lang="en-US" sz="2400" dirty="0"/>
              <a:t> Currency converter and language translation integration.</a:t>
            </a:r>
          </a:p>
          <a:p>
            <a:r>
              <a:rPr lang="en-US" sz="2400" b="1" dirty="0"/>
              <a:t>Visualization:</a:t>
            </a:r>
            <a:r>
              <a:rPr lang="en-US" sz="2400" dirty="0"/>
              <a:t> Interactive map with state-wise details 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ogo of a website&#10;&#10;AI-generated content may be incorrect.">
            <a:extLst>
              <a:ext uri="{FF2B5EF4-FFF2-40B4-BE49-F238E27FC236}">
                <a16:creationId xmlns:a16="http://schemas.microsoft.com/office/drawing/2014/main" id="{0295CEDF-E897-28D9-16B2-CAABF2551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87" y="1843884"/>
            <a:ext cx="391769" cy="391769"/>
          </a:xfrm>
          <a:prstGeom prst="rect">
            <a:avLst/>
          </a:prstGeom>
        </p:spPr>
      </p:pic>
      <p:pic>
        <p:nvPicPr>
          <p:cNvPr id="5" name="Picture 4" descr="A blue and black file with black text&#10;&#10;AI-generated content may be incorrect.">
            <a:extLst>
              <a:ext uri="{FF2B5EF4-FFF2-40B4-BE49-F238E27FC236}">
                <a16:creationId xmlns:a16="http://schemas.microsoft.com/office/drawing/2014/main" id="{FE9E54A9-E409-03C1-E3A9-7F8FEF669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510" y="1837786"/>
            <a:ext cx="397867" cy="397867"/>
          </a:xfrm>
          <a:prstGeom prst="rect">
            <a:avLst/>
          </a:prstGeom>
        </p:spPr>
      </p:pic>
      <p:pic>
        <p:nvPicPr>
          <p:cNvPr id="12" name="Picture 11" descr="A yellow square with black letters&#10;&#10;AI-generated content may be incorrect.">
            <a:extLst>
              <a:ext uri="{FF2B5EF4-FFF2-40B4-BE49-F238E27FC236}">
                <a16:creationId xmlns:a16="http://schemas.microsoft.com/office/drawing/2014/main" id="{F14A8DAD-7E7D-49BD-9FA8-5391F2BD0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331" y="1853681"/>
            <a:ext cx="364338" cy="364338"/>
          </a:xfrm>
          <a:prstGeom prst="rect">
            <a:avLst/>
          </a:prstGeom>
        </p:spPr>
      </p:pic>
      <p:pic>
        <p:nvPicPr>
          <p:cNvPr id="14" name="Picture 13" descr="A blue atom symbol with a black background&#10;&#10;AI-generated content may be incorrect.">
            <a:extLst>
              <a:ext uri="{FF2B5EF4-FFF2-40B4-BE49-F238E27FC236}">
                <a16:creationId xmlns:a16="http://schemas.microsoft.com/office/drawing/2014/main" id="{6B1A6CA8-27B0-41E7-4B25-B19BD111B6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1623" y="1825352"/>
            <a:ext cx="420996" cy="420996"/>
          </a:xfrm>
          <a:prstGeom prst="rect">
            <a:avLst/>
          </a:prstGeom>
        </p:spPr>
      </p:pic>
      <p:pic>
        <p:nvPicPr>
          <p:cNvPr id="16" name="Picture 15" descr="A logo with a leaf&#10;&#10;AI-generated content may be incorrect.">
            <a:extLst>
              <a:ext uri="{FF2B5EF4-FFF2-40B4-BE49-F238E27FC236}">
                <a16:creationId xmlns:a16="http://schemas.microsoft.com/office/drawing/2014/main" id="{5398BB49-6D3B-BF54-00D2-498A9BC7B2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3510" y="2418945"/>
            <a:ext cx="794106" cy="794106"/>
          </a:xfrm>
          <a:prstGeom prst="rect">
            <a:avLst/>
          </a:prstGeom>
        </p:spPr>
      </p:pic>
      <p:pic>
        <p:nvPicPr>
          <p:cNvPr id="18" name="Picture 17" descr="A green and black logo&#10;&#10;AI-generated content may be incorrect.">
            <a:extLst>
              <a:ext uri="{FF2B5EF4-FFF2-40B4-BE49-F238E27FC236}">
                <a16:creationId xmlns:a16="http://schemas.microsoft.com/office/drawing/2014/main" id="{7F015839-3677-1AAE-4677-01DEF94D1D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3786" y="2620114"/>
            <a:ext cx="391769" cy="391769"/>
          </a:xfrm>
          <a:prstGeom prst="rect">
            <a:avLst/>
          </a:prstGeom>
        </p:spPr>
      </p:pic>
      <p:pic>
        <p:nvPicPr>
          <p:cNvPr id="20" name="Picture 19" descr="A blue and purple gear with text&#10;&#10;AI-generated content may be incorrect.">
            <a:extLst>
              <a:ext uri="{FF2B5EF4-FFF2-40B4-BE49-F238E27FC236}">
                <a16:creationId xmlns:a16="http://schemas.microsoft.com/office/drawing/2014/main" id="{3CE4603B-F626-3793-B011-9534E8769D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1939" y="3346368"/>
            <a:ext cx="420996" cy="420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1208" y="1331750"/>
            <a:ext cx="9528048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Analysis of Feasibility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Uses </a:t>
            </a:r>
            <a:r>
              <a:rPr lang="en-US" altLang="en-US" b="1" dirty="0">
                <a:latin typeface="Arial" panose="020B0604020202020204" pitchFamily="34" charset="0"/>
              </a:rPr>
              <a:t>proven technologies</a:t>
            </a:r>
            <a:r>
              <a:rPr lang="en-US" altLang="en-US" dirty="0">
                <a:latin typeface="Arial" panose="020B0604020202020204" pitchFamily="34" charset="0"/>
              </a:rPr>
              <a:t> (Web development, AI, AR, APIs).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Scalable nationwide with </a:t>
            </a:r>
            <a:r>
              <a:rPr lang="en-US" altLang="en-US" b="1" dirty="0">
                <a:latin typeface="Arial" panose="020B0604020202020204" pitchFamily="34" charset="0"/>
              </a:rPr>
              <a:t>modular updates</a:t>
            </a:r>
            <a:r>
              <a:rPr lang="en-US" altLang="en-US" dirty="0">
                <a:latin typeface="Arial" panose="020B0604020202020204" pitchFamily="34" charset="0"/>
              </a:rPr>
              <a:t> for each state and cultural dataset.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Accessible via </a:t>
            </a:r>
            <a:r>
              <a:rPr lang="en-US" altLang="en-US" b="1" dirty="0">
                <a:latin typeface="Arial" panose="020B0604020202020204" pitchFamily="34" charset="0"/>
              </a:rPr>
              <a:t>web browsers</a:t>
            </a:r>
            <a:r>
              <a:rPr lang="en-US" altLang="en-US" dirty="0">
                <a:latin typeface="Arial" panose="020B0604020202020204" pitchFamily="34" charset="0"/>
              </a:rPr>
              <a:t>, ensuring availability for both domestic &amp; international users.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DD37AF-D7DF-D129-3976-CDC7C2798450}"/>
              </a:ext>
            </a:extLst>
          </p:cNvPr>
          <p:cNvSpPr txBox="1"/>
          <p:nvPr/>
        </p:nvSpPr>
        <p:spPr>
          <a:xfrm>
            <a:off x="521208" y="2837752"/>
            <a:ext cx="9501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Potential Challenges and Risk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43BF43F-622B-02D0-FA6A-297E19DC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3238716"/>
            <a:ext cx="7772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Collecting &amp; validating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 cultural and historical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translation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 performance may vary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low-end devices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94925-04F4-5468-92A9-1F26A8565122}"/>
              </a:ext>
            </a:extLst>
          </p:cNvPr>
          <p:cNvSpPr txBox="1"/>
          <p:nvPr/>
        </p:nvSpPr>
        <p:spPr>
          <a:xfrm>
            <a:off x="560832" y="4301400"/>
            <a:ext cx="6304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Strategies to Overcome Challenges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6DCDE1B4-D3D8-8D6A-FBAE-0A3204C7F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4764170"/>
            <a:ext cx="104215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translation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(Google Translate, Azure Translator) with manual corrections for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AR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progressive loading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support low-end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 caching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lightweight versions of the website for areas with poor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tourism 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cultural organizations for verified data.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44F2A0-A4BB-E74D-3BF0-000F2FD72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75385"/>
            <a:ext cx="1103985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Preserves and promotes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culture &amp; heritage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tourism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AI guides &amp; AR history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barriers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translations.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currency conversion &amp; cultural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students, researchers, and travelers.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one-stop cultural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unmatched in detail and interactivity.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12AC5B-A1B9-71D7-B150-0DDDA4C9BA8B}"/>
              </a:ext>
            </a:extLst>
          </p:cNvPr>
          <p:cNvSpPr txBox="1"/>
          <p:nvPr/>
        </p:nvSpPr>
        <p:spPr>
          <a:xfrm>
            <a:off x="609600" y="1801781"/>
            <a:ext cx="91447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Ministry of Culture, Government of India – </a:t>
            </a:r>
            <a:r>
              <a:rPr lang="en-US" sz="2400" dirty="0">
                <a:hlinkClick r:id="rId4"/>
              </a:rPr>
              <a:t>https://indiaculture.nic.in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Incredible India Tourism Portal – </a:t>
            </a:r>
            <a:r>
              <a:rPr lang="en-US" sz="2400" dirty="0">
                <a:hlinkClick r:id="rId5"/>
              </a:rPr>
              <a:t>https://www.incredibleindia.org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UNESCO World Heritage Sites in India – </a:t>
            </a:r>
            <a:r>
              <a:rPr lang="en-US" sz="2400" dirty="0">
                <a:hlinkClick r:id="rId6"/>
              </a:rPr>
              <a:t>https://whc.unesco.org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Research papers on </a:t>
            </a:r>
            <a:r>
              <a:rPr lang="en-US" sz="2400" b="1" dirty="0"/>
              <a:t>AR/VR in heritage preservation</a:t>
            </a:r>
            <a:r>
              <a:rPr lang="en-US" sz="2400" dirty="0"/>
              <a:t> &amp; </a:t>
            </a:r>
            <a:r>
              <a:rPr lang="en-US" sz="2400" b="1" dirty="0"/>
              <a:t>AI in tourism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State tourism websites for authentic cultural and historical data.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7828</TotalTime>
  <Words>656</Words>
  <Application>Microsoft Office PowerPoint</Application>
  <PresentationFormat>Widescreen</PresentationFormat>
  <Paragraphs>106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Cultural &amp; Heritage of India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Inzamam Khan</cp:lastModifiedBy>
  <cp:revision>148</cp:revision>
  <dcterms:created xsi:type="dcterms:W3CDTF">2013-12-12T18:46:50Z</dcterms:created>
  <dcterms:modified xsi:type="dcterms:W3CDTF">2025-09-22T16:20:08Z</dcterms:modified>
  <cp:category/>
</cp:coreProperties>
</file>